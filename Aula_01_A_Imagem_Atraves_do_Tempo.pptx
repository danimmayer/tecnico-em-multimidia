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notesMasterIdLst>
    <p:notesMasterId r:id="rId1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C19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>
            <a:alphaModFix amt="70000"/>
          </a:blip>
          <a:srcRect l="0" r="0" t="0" b="0"/>
          <a:stretch/>
        </p:blipFill>
        <p:spPr>
          <a:xfrm>
            <a:off x="0" y="0"/>
            <a:ext cx="9144000" cy="5148072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8072"/>
          </a:xfrm>
          <a:prstGeom prst="rect">
            <a:avLst/>
          </a:prstGeom>
          <a:solidFill>
            <a:srgbClr val="1C1917"/>
          </a:solidFill>
          <a:ln/>
        </p:spPr>
      </p:sp>
      <p:sp>
        <p:nvSpPr>
          <p:cNvPr id="4" name="Text 1"/>
          <p:cNvSpPr/>
          <p:nvPr/>
        </p:nvSpPr>
        <p:spPr>
          <a:xfrm>
            <a:off x="731520" y="1097280"/>
            <a:ext cx="768096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5200" b="1" dirty="0">
                <a:solidFill>
                  <a:srgbClr val="F5F0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Imagem Através</a:t>
            </a:r>
            <a:endParaRPr lang="en-US" sz="520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5200" b="1" dirty="0">
                <a:solidFill>
                  <a:srgbClr val="F5F0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do Tempo</a:t>
            </a:r>
            <a:endParaRPr lang="en-US" sz="5200" dirty="0"/>
          </a:p>
        </p:txBody>
      </p:sp>
      <p:sp>
        <p:nvSpPr>
          <p:cNvPr id="5" name="Shape 2"/>
          <p:cNvSpPr/>
          <p:nvPr/>
        </p:nvSpPr>
        <p:spPr>
          <a:xfrm>
            <a:off x="731520" y="3108960"/>
            <a:ext cx="2286000" cy="54864"/>
          </a:xfrm>
          <a:prstGeom prst="rect">
            <a:avLst/>
          </a:prstGeom>
          <a:solidFill>
            <a:srgbClr val="C8A96E"/>
          </a:solidFill>
          <a:ln/>
        </p:spPr>
      </p:sp>
      <p:sp>
        <p:nvSpPr>
          <p:cNvPr id="6" name="Text 3"/>
          <p:cNvSpPr/>
          <p:nvPr/>
        </p:nvSpPr>
        <p:spPr>
          <a:xfrm>
            <a:off x="731520" y="333756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8A9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01</a:t>
            </a:r>
            <a:endParaRPr lang="en-US" sz="2200" dirty="0"/>
          </a:p>
        </p:txBody>
      </p:sp>
      <p:sp>
        <p:nvSpPr>
          <p:cNvPr id="7" name="Text 4"/>
          <p:cNvSpPr/>
          <p:nvPr/>
        </p:nvSpPr>
        <p:spPr>
          <a:xfrm>
            <a:off x="731520" y="374904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8C85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Fundamentos de Fotografia Digital e de Semiótica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731520" y="4160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C85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SENAI - Técnico em Multimídia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0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680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2C282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Programação da Noite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731520" y="960120"/>
            <a:ext cx="1645920" cy="36576"/>
          </a:xfrm>
          <a:prstGeom prst="rect">
            <a:avLst/>
          </a:prstGeom>
          <a:solidFill>
            <a:srgbClr val="C8A96E"/>
          </a:solidFill>
          <a:ln/>
        </p:spPr>
      </p:sp>
      <p:sp>
        <p:nvSpPr>
          <p:cNvPr id="4" name="Shape 2"/>
          <p:cNvSpPr/>
          <p:nvPr/>
        </p:nvSpPr>
        <p:spPr>
          <a:xfrm>
            <a:off x="731520" y="1280160"/>
            <a:ext cx="7680960" cy="777240"/>
          </a:xfrm>
          <a:prstGeom prst="rect">
            <a:avLst>
              <a:gd name="adj" fmla="val 9412"/>
            </a:avLst>
          </a:prstGeom>
          <a:solidFill>
            <a:srgbClr val="E8E0D6"/>
          </a:solidFill>
          <a:ln/>
          <a:effectLst>
            <a:outerShdw sx="100000" sy="100000" kx="0" ky="0" algn="bl" rotWithShape="0" blurRad="101600" dist="38100" dir="16200000">
              <a:srgbClr val="000000">
                <a:alpha val="2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914400" y="137160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8A9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19:00 - 19:30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914400" y="1664208"/>
            <a:ext cx="7132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C28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Apresentação e boas-vindas. O que é fotografia? Primeiro contato.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731520" y="2194560"/>
            <a:ext cx="7680960" cy="777240"/>
          </a:xfrm>
          <a:prstGeom prst="rect">
            <a:avLst>
              <a:gd name="adj" fmla="val 941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16200000">
              <a:srgbClr val="000000">
                <a:alpha val="2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914400" y="228600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8A9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19:30 - 20:30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914400" y="2578608"/>
            <a:ext cx="7132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C28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 Câmera Obscura ao Daguerréotipo. Os pioneiros da imagem.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731520" y="3108960"/>
            <a:ext cx="7680960" cy="777240"/>
          </a:xfrm>
          <a:prstGeom prst="rect">
            <a:avLst>
              <a:gd name="adj" fmla="val 9412"/>
            </a:avLst>
          </a:prstGeom>
          <a:solidFill>
            <a:srgbClr val="E8E0D6"/>
          </a:solidFill>
          <a:ln/>
          <a:effectLst>
            <a:outerShdw sx="100000" sy="100000" kx="0" ky="0" algn="bl" rotWithShape="0" blurRad="101600" dist="38100" dir="16200000">
              <a:srgbClr val="000000">
                <a:alpha val="2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914400" y="320040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8A9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20:30 - 21:30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914400" y="3493008"/>
            <a:ext cx="7132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C28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filme ao digital. A democratização da fotografia.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731520" y="4023360"/>
            <a:ext cx="7680960" cy="777240"/>
          </a:xfrm>
          <a:prstGeom prst="rect">
            <a:avLst>
              <a:gd name="adj" fmla="val 941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16200000">
              <a:srgbClr val="000000">
                <a:alpha val="2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914400" y="411480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8A9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21:30 - 22:30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914400" y="4407408"/>
            <a:ext cx="7132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C28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era do smartphone. Ética e imagem. Atividade prática.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C19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4572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5F0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 que é Fotografia?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731520" y="960120"/>
            <a:ext cx="1645920" cy="36576"/>
          </a:xfrm>
          <a:prstGeom prst="rect">
            <a:avLst/>
          </a:prstGeom>
          <a:solidFill>
            <a:srgbClr val="C8A96E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28016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800" i="1" dirty="0">
                <a:solidFill>
                  <a:srgbClr val="D4BA8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Do grego: phos (luz) + graphé (escrita)</a:t>
            </a:r>
            <a:endParaRPr lang="en-US" sz="18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800" i="1" dirty="0">
                <a:solidFill>
                  <a:srgbClr val="D4BA8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"Escrita com luz"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731520" y="2377440"/>
            <a:ext cx="411480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F5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fotografia é, ao mesmo tempo:</a:t>
            </a:r>
            <a:endParaRPr lang="en-US" sz="1500" dirty="0"/>
          </a:p>
          <a:p>
            <a:pPr indent="0" marL="0">
              <a:buNone/>
            </a:pP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8C85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Técnica - controle de luz, exposição, composição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8C85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Arte - expressão pessoal, estética, narrativa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8C85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Comunicação - transmite mensagens, emoções, ideias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8C85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Documento - registra a história, a memória, o real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8C85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Signo - cada imagem carrega significados (semiótica)</a:t>
            </a:r>
            <a:endParaRPr lang="en-US" sz="15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303520" y="1097280"/>
            <a:ext cx="3474720" cy="3474720"/>
          </a:xfrm>
          <a:prstGeom prst="ellipse">
            <a:avLst/>
          </a:prstGeom>
          <a:effectLst>
            <a:outerShdw sx="100000" sy="100000" kx="0" ky="0" algn="bl" rotWithShape="0" blurRad="101600" dist="38100" dir="16200000">
              <a:srgbClr val="000000">
                <a:alpha val="20000"/>
              </a:srgbClr>
            </a:outerShdw>
          </a:effectLst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0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680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2C282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Câmera Obscura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8A9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Século V a.C. - Século XVIII</a:t>
            </a:r>
            <a:endParaRPr lang="en-US" sz="14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303520" y="1097280"/>
            <a:ext cx="3474720" cy="3474720"/>
          </a:xfrm>
          <a:prstGeom prst="rect">
            <a:avLst/>
          </a:prstGeom>
          <a:effectLst>
            <a:outerShdw sx="100000" sy="100000" kx="0" ky="0" algn="bl" rotWithShape="0" blurRad="101600" dist="38100" dir="16200000">
              <a:srgbClr val="000000">
                <a:alpha val="20000"/>
              </a:srgbClr>
            </a:outerShdw>
          </a:effectLst>
        </p:spPr>
      </p:pic>
      <p:sp>
        <p:nvSpPr>
          <p:cNvPr id="5" name="Shape 2"/>
          <p:cNvSpPr/>
          <p:nvPr/>
        </p:nvSpPr>
        <p:spPr>
          <a:xfrm>
            <a:off x="731520" y="1371600"/>
            <a:ext cx="4297680" cy="3291840"/>
          </a:xfrm>
          <a:prstGeom prst="rect">
            <a:avLst>
              <a:gd name="adj" fmla="val 3333"/>
            </a:avLst>
          </a:prstGeom>
          <a:solidFill>
            <a:srgbClr val="1C1917"/>
          </a:solidFill>
          <a:ln/>
          <a:effectLst>
            <a:outerShdw sx="100000" sy="100000" kx="0" ky="0" algn="bl" rotWithShape="0" blurRad="101600" dist="38100" dir="16200000">
              <a:srgbClr val="000000">
                <a:alpha val="20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914400" y="1554480"/>
            <a:ext cx="3931920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5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Princípio: luz entra por um pequeno orifício e projeta a imagem invertida na parede oposta.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8C85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Aristóteles (384-322 a.C.) - primeiros registros do fenômeno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8C85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Ibn al-Haytham (1011) - descreveu o princípio óptico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8C85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Leonardo da Vinci (1502) - desenhou a câmera obscura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8C85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Séculos XVI-XVIII - artistas usam como ferramenta de desenho (Vermeer, Canaletto)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300" i="1" dirty="0">
                <a:solidFill>
                  <a:srgbClr val="D4B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câmera obscura é a ancestral direta de todas as câmeras fotográficas.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C19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680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5F0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Primeira Fotografia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8A9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Joseph Nicéphore Niépce, 1826</a:t>
            </a:r>
            <a:endParaRPr lang="en-US" sz="14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029200" y="731520"/>
            <a:ext cx="3657600" cy="3840480"/>
          </a:xfrm>
          <a:prstGeom prst="rect">
            <a:avLst/>
          </a:prstGeom>
          <a:effectLst>
            <a:outerShdw sx="100000" sy="100000" kx="0" ky="0" algn="bl" rotWithShape="0" blurRad="101600" dist="38100" dir="16200000">
              <a:srgbClr val="000000">
                <a:alpha val="20000"/>
              </a:srgbClr>
            </a:outerShdw>
          </a:effectLst>
        </p:spPr>
      </p:pic>
      <p:sp>
        <p:nvSpPr>
          <p:cNvPr id="5" name="Text 2"/>
          <p:cNvSpPr/>
          <p:nvPr/>
        </p:nvSpPr>
        <p:spPr>
          <a:xfrm>
            <a:off x="731520" y="1371600"/>
            <a:ext cx="402336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i="1" dirty="0">
                <a:solidFill>
                  <a:srgbClr val="D4B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"Vista da Janela em Le Gras"</a:t>
            </a:r>
            <a:endParaRPr lang="en-US" sz="1600" dirty="0"/>
          </a:p>
          <a:p>
            <a:pPr indent="0" marL="0">
              <a:buNone/>
            </a:pPr>
            <a:r>
              <a:rPr lang="en-US" sz="1300" dirty="0">
                <a:solidFill>
                  <a:srgbClr val="8C85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Primeira imagem permanente da história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F5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Heliografia: placa de estanho revestida com betume da Judeia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F5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Exposição de aproximadamente 8 horas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F5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Resultado: imagem borrada, mas permanente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400" b="1" dirty="0">
                <a:solidFill>
                  <a:srgbClr val="C8A9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que importa?</a:t>
            </a:r>
            <a:endParaRPr lang="en-US" sz="1600" dirty="0"/>
          </a:p>
          <a:p>
            <a:pPr indent="0" marL="0">
              <a:buNone/>
            </a:pPr>
            <a:r>
              <a:rPr lang="en-US" sz="1300" dirty="0">
                <a:solidFill>
                  <a:srgbClr val="8C85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Pela primeira vez, a luz registrou a realidade sem a mão humana. A imagem deixou de ser interpretação e passou a ser registro.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0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680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2C282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 Daguerréotipo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8A9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Louis Daguerre, 1839</a:t>
            </a:r>
            <a:endParaRPr lang="en-US" sz="14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731520" y="1371600"/>
            <a:ext cx="3474720" cy="2560320"/>
          </a:xfrm>
          <a:prstGeom prst="rect">
            <a:avLst/>
          </a:prstGeom>
          <a:effectLst>
            <a:outerShdw sx="100000" sy="100000" kx="0" ky="0" algn="bl" rotWithShape="0" blurRad="101600" dist="38100" dir="16200000">
              <a:srgbClr val="000000">
                <a:alpha val="20000"/>
              </a:srgbClr>
            </a:outerShdw>
          </a:effectLst>
        </p:spPr>
      </p:pic>
      <p:sp>
        <p:nvSpPr>
          <p:cNvPr id="5" name="Shape 2"/>
          <p:cNvSpPr/>
          <p:nvPr/>
        </p:nvSpPr>
        <p:spPr>
          <a:xfrm>
            <a:off x="4572000" y="1371600"/>
            <a:ext cx="4114800" cy="3291840"/>
          </a:xfrm>
          <a:prstGeom prst="rect">
            <a:avLst>
              <a:gd name="adj" fmla="val 3333"/>
            </a:avLst>
          </a:prstGeom>
          <a:solidFill>
            <a:srgbClr val="1C1917"/>
          </a:solidFill>
          <a:ln/>
          <a:effectLst>
            <a:outerShdw sx="100000" sy="100000" kx="0" ky="0" algn="bl" rotWithShape="0" blurRad="101600" dist="38100" dir="16200000">
              <a:srgbClr val="000000">
                <a:alpha val="20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4754880" y="1554480"/>
            <a:ext cx="3749040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C8A9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 funcionava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F5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Placa de cobre prateada, polida como espelho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F5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Sensibilizada com vapores de iodo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F5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Exposição de 15-30 minutos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F5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Imagem única - sem negativos, sem cópias</a:t>
            </a:r>
            <a:endParaRPr lang="en-US" sz="1500" dirty="0"/>
          </a:p>
          <a:p>
            <a:pPr indent="0" marL="0">
              <a:buNone/>
            </a:pPr>
            <a:endParaRPr lang="en-US" sz="1500" dirty="0"/>
          </a:p>
          <a:p>
            <a:pPr indent="0" marL="0">
              <a:buNone/>
            </a:pPr>
            <a:r>
              <a:rPr lang="en-US" sz="1500" b="1" dirty="0">
                <a:solidFill>
                  <a:srgbClr val="C8A9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Impacto na sociedade</a:t>
            </a:r>
            <a:endParaRPr lang="en-US" sz="1500" dirty="0"/>
          </a:p>
          <a:p>
            <a:pPr indent="0" marL="0">
              <a:buNone/>
            </a:pPr>
            <a:r>
              <a:rPr lang="en-US" sz="1200" i="1" dirty="0">
                <a:solidFill>
                  <a:srgbClr val="D4B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"A partir de hoje, a pintura está morta!" - Paul Delaroche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F5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Retratos acessíveis pela primeira vez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F5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Debate: fotografia é arte ou ciência?</a:t>
            </a:r>
            <a:endParaRPr lang="en-US" sz="15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C19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680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5F0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 Negativo Muda Tudo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8A9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William Henry Fox Talbot, 1841 - Calótipo</a:t>
            </a:r>
            <a:endParaRPr lang="en-US" sz="14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029200" y="1097280"/>
            <a:ext cx="3657600" cy="2468880"/>
          </a:xfrm>
          <a:prstGeom prst="rect">
            <a:avLst/>
          </a:prstGeom>
          <a:effectLst>
            <a:outerShdw sx="100000" sy="100000" kx="0" ky="0" algn="bl" rotWithShape="0" blurRad="101600" dist="38100" dir="16200000">
              <a:srgbClr val="000000">
                <a:alpha val="20000"/>
              </a:srgbClr>
            </a:outerShdw>
          </a:effectLst>
        </p:spPr>
      </p:pic>
      <p:sp>
        <p:nvSpPr>
          <p:cNvPr id="5" name="Text 2"/>
          <p:cNvSpPr/>
          <p:nvPr/>
        </p:nvSpPr>
        <p:spPr>
          <a:xfrm>
            <a:off x="731520" y="1371600"/>
            <a:ext cx="402336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C8A9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grande inovação: negativo-positivo</a:t>
            </a:r>
            <a:endParaRPr lang="en-US" sz="1500" dirty="0"/>
          </a:p>
          <a:p>
            <a:pPr indent="0" marL="0">
              <a:buNone/>
            </a:pP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8C85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Daguerréotipo = imagem única (original)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F5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Calótipo = negativo em papel, múltiplas cópias</a:t>
            </a:r>
            <a:endParaRPr lang="en-US" sz="1500" dirty="0"/>
          </a:p>
          <a:p>
            <a:pPr indent="0" marL="0">
              <a:buNone/>
            </a:pPr>
            <a:endParaRPr lang="en-US" sz="1500" dirty="0"/>
          </a:p>
          <a:p>
            <a:pPr indent="0" marL="0">
              <a:buNone/>
            </a:pPr>
            <a:r>
              <a:rPr lang="en-US" sz="1400" b="1" dirty="0">
                <a:solidFill>
                  <a:srgbClr val="C8A9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Consequências: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F5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Reprodução em massa de imagens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F5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Fotografia em jornais e livros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F5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Início da fotografia como meio de comunicação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F5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do processo usado por 150+ anos (até o digital)</a:t>
            </a:r>
            <a:endParaRPr lang="en-US" sz="15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0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74320"/>
            <a:ext cx="76809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3200" b="1" dirty="0">
                <a:solidFill>
                  <a:srgbClr val="2C282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"You Press the Button,</a:t>
            </a:r>
            <a:endParaRPr lang="en-US" sz="32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3200" b="1" dirty="0">
                <a:solidFill>
                  <a:srgbClr val="2C282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We Do the Rest"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731520" y="11887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8A9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George Eastman - Kodak, 1888</a:t>
            </a:r>
            <a:endParaRPr lang="en-US" sz="14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943600" y="914400"/>
            <a:ext cx="2743200" cy="3840480"/>
          </a:xfrm>
          <a:prstGeom prst="rect">
            <a:avLst/>
          </a:prstGeom>
          <a:effectLst>
            <a:outerShdw sx="100000" sy="100000" kx="0" ky="0" algn="bl" rotWithShape="0" blurRad="101600" dist="38100" dir="16200000">
              <a:srgbClr val="000000">
                <a:alpha val="20000"/>
              </a:srgbClr>
            </a:outerShdw>
          </a:effectLst>
        </p:spPr>
      </p:pic>
      <p:sp>
        <p:nvSpPr>
          <p:cNvPr id="5" name="Shape 2"/>
          <p:cNvSpPr/>
          <p:nvPr/>
        </p:nvSpPr>
        <p:spPr>
          <a:xfrm>
            <a:off x="731520" y="1645920"/>
            <a:ext cx="4754880" cy="2926080"/>
          </a:xfrm>
          <a:prstGeom prst="rect">
            <a:avLst>
              <a:gd name="adj" fmla="val 3750"/>
            </a:avLst>
          </a:prstGeom>
          <a:solidFill>
            <a:srgbClr val="1C1917"/>
          </a:solidFill>
          <a:ln/>
          <a:effectLst>
            <a:outerShdw sx="100000" sy="100000" kx="0" ky="0" algn="bl" rotWithShape="0" blurRad="101600" dist="38100" dir="16200000">
              <a:srgbClr val="000000">
                <a:alpha val="20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914400" y="1828800"/>
            <a:ext cx="4389120" cy="2560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C8A9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fotografia deixa de ser para especialistas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F5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Kodak Brownie (1900): câmera por US$1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F5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Filme em rolo: 100 fotos sem trocar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F5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Envio pelo correio para revelação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F5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Qualquer pessoa podia fotografar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300" b="1" dirty="0">
                <a:solidFill>
                  <a:srgbClr val="C8A9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Paralelo com hoje: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rgbClr val="8C85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Assim como a Kodak democratizou a fotografia no século XX, o smartphone fez o mesmo no século XXI.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C19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680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5F0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Cor Chega à Fotografia</a:t>
            </a:r>
            <a:endParaRPr lang="en-US" sz="36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486400" y="1097280"/>
            <a:ext cx="3200400" cy="3474720"/>
          </a:xfrm>
          <a:prstGeom prst="rect">
            <a:avLst/>
          </a:prstGeom>
          <a:effectLst>
            <a:outerShdw sx="100000" sy="100000" kx="0" ky="0" algn="bl" rotWithShape="0" blurRad="101600" dist="38100" dir="16200000">
              <a:srgbClr val="000000">
                <a:alpha val="20000"/>
              </a:srgbClr>
            </a:outerShdw>
          </a:effectLst>
        </p:spPr>
      </p:pic>
      <p:sp>
        <p:nvSpPr>
          <p:cNvPr id="4" name="Shape 1"/>
          <p:cNvSpPr/>
          <p:nvPr/>
        </p:nvSpPr>
        <p:spPr>
          <a:xfrm>
            <a:off x="731520" y="1188720"/>
            <a:ext cx="1371600" cy="502920"/>
          </a:xfrm>
          <a:prstGeom prst="rect">
            <a:avLst>
              <a:gd name="adj" fmla="val 10909"/>
            </a:avLst>
          </a:prstGeom>
          <a:solidFill>
            <a:srgbClr val="C8A96E"/>
          </a:solidFill>
          <a:ln/>
        </p:spPr>
      </p:sp>
      <p:sp>
        <p:nvSpPr>
          <p:cNvPr id="5" name="Text 2"/>
          <p:cNvSpPr/>
          <p:nvPr/>
        </p:nvSpPr>
        <p:spPr>
          <a:xfrm>
            <a:off x="731520" y="1234440"/>
            <a:ext cx="1371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C19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1861</a:t>
            </a:r>
            <a:endParaRPr lang="en-US" sz="1800" dirty="0"/>
          </a:p>
        </p:txBody>
      </p:sp>
      <p:sp>
        <p:nvSpPr>
          <p:cNvPr id="6" name="Text 3"/>
          <p:cNvSpPr/>
          <p:nvPr/>
        </p:nvSpPr>
        <p:spPr>
          <a:xfrm>
            <a:off x="2377440" y="1234440"/>
            <a:ext cx="2926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5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James Clerk Maxwell - primeira foto colorida (três filtros RGB)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731520" y="1920240"/>
            <a:ext cx="1371600" cy="502920"/>
          </a:xfrm>
          <a:prstGeom prst="rect">
            <a:avLst>
              <a:gd name="adj" fmla="val 10909"/>
            </a:avLst>
          </a:prstGeom>
          <a:solidFill>
            <a:srgbClr val="C8A96E"/>
          </a:solidFill>
          <a:ln/>
        </p:spPr>
      </p:sp>
      <p:sp>
        <p:nvSpPr>
          <p:cNvPr id="8" name="Text 5"/>
          <p:cNvSpPr/>
          <p:nvPr/>
        </p:nvSpPr>
        <p:spPr>
          <a:xfrm>
            <a:off x="731520" y="1965960"/>
            <a:ext cx="1371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C19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1907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2377440" y="1965960"/>
            <a:ext cx="2926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5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Autochrome Lumière - primeiro processo comercial de cor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731520" y="2651760"/>
            <a:ext cx="1371600" cy="502920"/>
          </a:xfrm>
          <a:prstGeom prst="rect">
            <a:avLst>
              <a:gd name="adj" fmla="val 10909"/>
            </a:avLst>
          </a:prstGeom>
          <a:solidFill>
            <a:srgbClr val="C8A96E"/>
          </a:solidFill>
          <a:ln/>
        </p:spPr>
      </p:sp>
      <p:sp>
        <p:nvSpPr>
          <p:cNvPr id="11" name="Text 8"/>
          <p:cNvSpPr/>
          <p:nvPr/>
        </p:nvSpPr>
        <p:spPr>
          <a:xfrm>
            <a:off x="731520" y="2697480"/>
            <a:ext cx="1371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C19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1935</a:t>
            </a:r>
            <a:endParaRPr lang="en-US" sz="1800" dirty="0"/>
          </a:p>
        </p:txBody>
      </p:sp>
      <p:sp>
        <p:nvSpPr>
          <p:cNvPr id="12" name="Text 9"/>
          <p:cNvSpPr/>
          <p:nvPr/>
        </p:nvSpPr>
        <p:spPr>
          <a:xfrm>
            <a:off x="2377440" y="2697480"/>
            <a:ext cx="2926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5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Kodachrome - filme colorido acessível, cores vibrantes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731520" y="3383280"/>
            <a:ext cx="1371600" cy="502920"/>
          </a:xfrm>
          <a:prstGeom prst="rect">
            <a:avLst>
              <a:gd name="adj" fmla="val 10909"/>
            </a:avLst>
          </a:prstGeom>
          <a:solidFill>
            <a:srgbClr val="C8A96E"/>
          </a:solidFill>
          <a:ln/>
        </p:spPr>
      </p:sp>
      <p:sp>
        <p:nvSpPr>
          <p:cNvPr id="14" name="Text 11"/>
          <p:cNvSpPr/>
          <p:nvPr/>
        </p:nvSpPr>
        <p:spPr>
          <a:xfrm>
            <a:off x="731520" y="3429000"/>
            <a:ext cx="1371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C19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1963</a:t>
            </a:r>
            <a:endParaRPr lang="en-US" sz="1800" dirty="0"/>
          </a:p>
        </p:txBody>
      </p:sp>
      <p:sp>
        <p:nvSpPr>
          <p:cNvPr id="15" name="Text 12"/>
          <p:cNvSpPr/>
          <p:nvPr/>
        </p:nvSpPr>
        <p:spPr>
          <a:xfrm>
            <a:off x="2377440" y="3429000"/>
            <a:ext cx="2926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5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Polaroid Color - fotografia instantânea em cores</a:t>
            </a:r>
            <a:endParaRPr lang="en-US" sz="1300" dirty="0"/>
          </a:p>
        </p:txBody>
      </p:sp>
      <p:sp>
        <p:nvSpPr>
          <p:cNvPr id="16" name="Shape 13"/>
          <p:cNvSpPr/>
          <p:nvPr/>
        </p:nvSpPr>
        <p:spPr>
          <a:xfrm>
            <a:off x="731520" y="4114800"/>
            <a:ext cx="1371600" cy="502920"/>
          </a:xfrm>
          <a:prstGeom prst="rect">
            <a:avLst>
              <a:gd name="adj" fmla="val 10909"/>
            </a:avLst>
          </a:prstGeom>
          <a:solidFill>
            <a:srgbClr val="C8A96E"/>
          </a:solidFill>
          <a:ln/>
        </p:spPr>
      </p:sp>
      <p:sp>
        <p:nvSpPr>
          <p:cNvPr id="17" name="Text 14"/>
          <p:cNvSpPr/>
          <p:nvPr/>
        </p:nvSpPr>
        <p:spPr>
          <a:xfrm>
            <a:off x="731520" y="4160520"/>
            <a:ext cx="1371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C19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1970s</a:t>
            </a:r>
            <a:endParaRPr lang="en-US" sz="1800" dirty="0"/>
          </a:p>
        </p:txBody>
      </p:sp>
      <p:sp>
        <p:nvSpPr>
          <p:cNvPr id="18" name="Text 15"/>
          <p:cNvSpPr/>
          <p:nvPr/>
        </p:nvSpPr>
        <p:spPr>
          <a:xfrm>
            <a:off x="2377440" y="4160520"/>
            <a:ext cx="2926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5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 supera o P&amp;B no uso comercial e amador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F0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680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2C282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Fotógrafos que Mudaram o Mundo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731520" y="960120"/>
            <a:ext cx="1645920" cy="36576"/>
          </a:xfrm>
          <a:prstGeom prst="rect">
            <a:avLst/>
          </a:prstGeom>
          <a:solidFill>
            <a:srgbClr val="C8A96E"/>
          </a:solidFill>
          <a:ln/>
        </p:spPr>
      </p:sp>
      <p:sp>
        <p:nvSpPr>
          <p:cNvPr id="4" name="Shape 2"/>
          <p:cNvSpPr/>
          <p:nvPr/>
        </p:nvSpPr>
        <p:spPr>
          <a:xfrm>
            <a:off x="731520" y="1188720"/>
            <a:ext cx="7680960" cy="640080"/>
          </a:xfrm>
          <a:prstGeom prst="rect">
            <a:avLst>
              <a:gd name="adj" fmla="val 11429"/>
            </a:avLst>
          </a:prstGeom>
          <a:solidFill>
            <a:srgbClr val="1C1917"/>
          </a:solidFill>
          <a:ln/>
          <a:effectLst>
            <a:outerShdw sx="100000" sy="100000" kx="0" ky="0" algn="bl" rotWithShape="0" blurRad="101600" dist="38100" dir="16200000">
              <a:srgbClr val="000000">
                <a:alpha val="2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914400" y="1261872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8A96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Ansel Adams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914400" y="1508760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C85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Paisagem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3657600" y="1280160"/>
            <a:ext cx="4389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5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 de zonas, P&amp;B magisterial dos parques americanos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731520" y="1938528"/>
            <a:ext cx="7680960" cy="640080"/>
          </a:xfrm>
          <a:prstGeom prst="rect">
            <a:avLst>
              <a:gd name="adj" fmla="val 11429"/>
            </a:avLst>
          </a:prstGeom>
          <a:solidFill>
            <a:srgbClr val="292420"/>
          </a:solidFill>
          <a:ln/>
          <a:effectLst>
            <a:outerShdw sx="100000" sy="100000" kx="0" ky="0" algn="bl" rotWithShape="0" blurRad="101600" dist="38100" dir="16200000">
              <a:srgbClr val="000000">
                <a:alpha val="2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914400" y="2011680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8A96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Henri Cartier-Bresson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914400" y="2258568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C85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Fotojornalismo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3657600" y="2029968"/>
            <a:ext cx="4389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5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"Momento decisivo" - capturar o instante perfeito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731520" y="2688336"/>
            <a:ext cx="7680960" cy="640080"/>
          </a:xfrm>
          <a:prstGeom prst="rect">
            <a:avLst>
              <a:gd name="adj" fmla="val 11429"/>
            </a:avLst>
          </a:prstGeom>
          <a:solidFill>
            <a:srgbClr val="1C1917"/>
          </a:solidFill>
          <a:ln/>
          <a:effectLst>
            <a:outerShdw sx="100000" sy="100000" kx="0" ky="0" algn="bl" rotWithShape="0" blurRad="101600" dist="38100" dir="16200000">
              <a:srgbClr val="000000">
                <a:alpha val="2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914400" y="2761488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8A96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Dorothea Lange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914400" y="3008376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C85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Documental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657600" y="2779776"/>
            <a:ext cx="4389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5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"Migrant Mother" - fotografia como ferramenta social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731520" y="3438144"/>
            <a:ext cx="7680960" cy="640080"/>
          </a:xfrm>
          <a:prstGeom prst="rect">
            <a:avLst>
              <a:gd name="adj" fmla="val 11429"/>
            </a:avLst>
          </a:prstGeom>
          <a:solidFill>
            <a:srgbClr val="292420"/>
          </a:solidFill>
          <a:ln/>
          <a:effectLst>
            <a:outerShdw sx="100000" sy="100000" kx="0" ky="0" algn="bl" rotWithShape="0" blurRad="101600" dist="38100" dir="16200000">
              <a:srgbClr val="000000">
                <a:alpha val="2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914400" y="3511296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8A96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Sebastião Salgado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914400" y="3758184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C85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Documental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3657600" y="3529584"/>
            <a:ext cx="4389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5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Brasileiro. Registrou trabalhadores, migrações, natureza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731520" y="4187952"/>
            <a:ext cx="7680960" cy="640080"/>
          </a:xfrm>
          <a:prstGeom prst="rect">
            <a:avLst>
              <a:gd name="adj" fmla="val 11429"/>
            </a:avLst>
          </a:prstGeom>
          <a:solidFill>
            <a:srgbClr val="1C1917"/>
          </a:solidFill>
          <a:ln/>
          <a:effectLst>
            <a:outerShdw sx="100000" sy="100000" kx="0" ky="0" algn="bl" rotWithShape="0" blurRad="101600" dist="38100" dir="16200000">
              <a:srgbClr val="000000">
                <a:alpha val="20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914400" y="4261104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8A96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Steve McCurry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914400" y="4507992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C85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Retrato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3657600" y="4279392"/>
            <a:ext cx="4389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5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"Menina Afegã" - poder do retrato, National Geographic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C19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680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5F0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Revolução Digital</a:t>
            </a:r>
            <a:endParaRPr lang="en-US" sz="36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486400" y="731520"/>
            <a:ext cx="3200400" cy="3840480"/>
          </a:xfrm>
          <a:prstGeom prst="rect">
            <a:avLst/>
          </a:prstGeom>
          <a:effectLst>
            <a:outerShdw sx="100000" sy="100000" kx="0" ky="0" algn="bl" rotWithShape="0" blurRad="101600" dist="38100" dir="16200000">
              <a:srgbClr val="000000">
                <a:alpha val="20000"/>
              </a:srgbClr>
            </a:outerShdw>
          </a:effectLst>
        </p:spPr>
      </p:pic>
      <p:sp>
        <p:nvSpPr>
          <p:cNvPr id="4" name="Text 1"/>
          <p:cNvSpPr/>
          <p:nvPr/>
        </p:nvSpPr>
        <p:spPr>
          <a:xfrm>
            <a:off x="731520" y="1097280"/>
            <a:ext cx="438912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C8A9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1975</a:t>
            </a:r>
            <a:endParaRPr lang="en-US" sz="2200" dirty="0"/>
          </a:p>
          <a:p>
            <a:pPr indent="0" marL="0">
              <a:buNone/>
            </a:pPr>
            <a:r>
              <a:rPr lang="en-US" sz="1300" dirty="0">
                <a:solidFill>
                  <a:srgbClr val="8C85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Steve Sasson (Kodak) cria a primeira câmera digital. Pesava 3,6 kg, resolução de 0,01 megapixel.</a:t>
            </a:r>
            <a:endParaRPr lang="en-US" sz="2200" dirty="0"/>
          </a:p>
          <a:p>
            <a:pPr indent="0" marL="0">
              <a:buNone/>
            </a:pPr>
            <a:endParaRPr lang="en-US" sz="2200" dirty="0"/>
          </a:p>
          <a:p>
            <a:pPr indent="0" marL="0">
              <a:buNone/>
            </a:pPr>
            <a:r>
              <a:rPr lang="en-US" sz="2200" b="1" dirty="0">
                <a:solidFill>
                  <a:srgbClr val="C8A9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1991</a:t>
            </a:r>
            <a:endParaRPr lang="en-US" sz="2200" dirty="0"/>
          </a:p>
          <a:p>
            <a:pPr indent="0" marL="0">
              <a:buNone/>
            </a:pPr>
            <a:r>
              <a:rPr lang="en-US" sz="1300" dirty="0">
                <a:solidFill>
                  <a:srgbClr val="8C85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Kodak DCS 100 - primeira DSLR comercial. US$ 13.000.</a:t>
            </a:r>
            <a:endParaRPr lang="en-US" sz="2200" dirty="0"/>
          </a:p>
          <a:p>
            <a:pPr indent="0" marL="0">
              <a:buNone/>
            </a:pPr>
            <a:endParaRPr lang="en-US" sz="2200" dirty="0"/>
          </a:p>
          <a:p>
            <a:pPr indent="0" marL="0">
              <a:buNone/>
            </a:pPr>
            <a:r>
              <a:rPr lang="en-US" sz="2200" b="1" dirty="0">
                <a:solidFill>
                  <a:srgbClr val="C8A9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Anos 2000</a:t>
            </a:r>
            <a:endParaRPr lang="en-US" sz="2200" dirty="0"/>
          </a:p>
          <a:p>
            <a:pPr indent="0" marL="0">
              <a:buNone/>
            </a:pPr>
            <a:r>
              <a:rPr lang="en-US" sz="1300" dirty="0">
                <a:solidFill>
                  <a:srgbClr val="8C85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Câmeras digitais compactas se popularizam. Fim do filme para o consumidor médio.</a:t>
            </a:r>
            <a:endParaRPr lang="en-US" sz="2200" dirty="0"/>
          </a:p>
          <a:p>
            <a:pPr indent="0" marL="0">
              <a:buNone/>
            </a:pPr>
            <a:endParaRPr lang="en-US" sz="2200" dirty="0"/>
          </a:p>
          <a:p>
            <a:pPr indent="0" marL="0">
              <a:buNone/>
            </a:pPr>
            <a:r>
              <a:rPr lang="en-US" sz="1300" i="1" dirty="0">
                <a:solidFill>
                  <a:srgbClr val="D4B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Ironia: a Kodak inventou a câmera digital, mas faliu por não abraçar a tecnologia que criou.</a:t>
            </a:r>
            <a:endParaRPr lang="en-US" sz="2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5F0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680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2C282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Analógico vs Digital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731520" y="1097280"/>
            <a:ext cx="7680960" cy="411480"/>
          </a:xfrm>
          <a:prstGeom prst="rect">
            <a:avLst/>
          </a:prstGeom>
          <a:solidFill>
            <a:srgbClr val="1C1917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1115568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8A9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Aspecto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2926080" y="1115568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8A9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Analógico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669280" y="1115568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8A9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731520" y="1508760"/>
            <a:ext cx="7680960" cy="43891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8" name="Text 6"/>
          <p:cNvSpPr/>
          <p:nvPr/>
        </p:nvSpPr>
        <p:spPr>
          <a:xfrm>
            <a:off x="822960" y="1508760"/>
            <a:ext cx="20116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C28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Suporte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926080" y="1508760"/>
            <a:ext cx="27432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28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Filme químico (haletos de prata)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669280" y="1508760"/>
            <a:ext cx="27432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28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Sensor eletrônico (CCD/CMOS)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731520" y="1947672"/>
            <a:ext cx="7680960" cy="438912"/>
          </a:xfrm>
          <a:prstGeom prst="rect">
            <a:avLst/>
          </a:prstGeom>
          <a:solidFill>
            <a:srgbClr val="E8E0D6"/>
          </a:solidFill>
          <a:ln/>
        </p:spPr>
      </p:sp>
      <p:sp>
        <p:nvSpPr>
          <p:cNvPr id="12" name="Text 10"/>
          <p:cNvSpPr/>
          <p:nvPr/>
        </p:nvSpPr>
        <p:spPr>
          <a:xfrm>
            <a:off x="822960" y="1947672"/>
            <a:ext cx="20116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C28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Armazenamento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2926080" y="1947672"/>
            <a:ext cx="27432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28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Negativo físico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669280" y="1947672"/>
            <a:ext cx="27432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28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Arquivo digital (cartão, nuvem)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731520" y="2386584"/>
            <a:ext cx="7680960" cy="43891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6" name="Text 14"/>
          <p:cNvSpPr/>
          <p:nvPr/>
        </p:nvSpPr>
        <p:spPr>
          <a:xfrm>
            <a:off x="822960" y="2386584"/>
            <a:ext cx="20116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C28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Visualização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2926080" y="2386584"/>
            <a:ext cx="27432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28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Após revelação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5669280" y="2386584"/>
            <a:ext cx="27432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28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Instantânea (LCD/tela)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731520" y="2825496"/>
            <a:ext cx="7680960" cy="438912"/>
          </a:xfrm>
          <a:prstGeom prst="rect">
            <a:avLst/>
          </a:prstGeom>
          <a:solidFill>
            <a:srgbClr val="E8E0D6"/>
          </a:solidFill>
          <a:ln/>
        </p:spPr>
      </p:sp>
      <p:sp>
        <p:nvSpPr>
          <p:cNvPr id="20" name="Text 18"/>
          <p:cNvSpPr/>
          <p:nvPr/>
        </p:nvSpPr>
        <p:spPr>
          <a:xfrm>
            <a:off x="822960" y="2825496"/>
            <a:ext cx="20116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C28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 por foto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2926080" y="2825496"/>
            <a:ext cx="27432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28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Filme + revelação = custo real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5669280" y="2825496"/>
            <a:ext cx="27432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28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Praticamente zero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731520" y="3264408"/>
            <a:ext cx="7680960" cy="43891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4" name="Text 22"/>
          <p:cNvSpPr/>
          <p:nvPr/>
        </p:nvSpPr>
        <p:spPr>
          <a:xfrm>
            <a:off x="822960" y="3264408"/>
            <a:ext cx="20116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C28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Quantidade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2926080" y="3264408"/>
            <a:ext cx="27432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28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 ou 36 poses por rolo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5669280" y="3264408"/>
            <a:ext cx="27432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28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Milhares por cartão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731520" y="3703320"/>
            <a:ext cx="7680960" cy="438912"/>
          </a:xfrm>
          <a:prstGeom prst="rect">
            <a:avLst/>
          </a:prstGeom>
          <a:solidFill>
            <a:srgbClr val="E8E0D6"/>
          </a:solidFill>
          <a:ln/>
        </p:spPr>
      </p:sp>
      <p:sp>
        <p:nvSpPr>
          <p:cNvPr id="28" name="Text 26"/>
          <p:cNvSpPr/>
          <p:nvPr/>
        </p:nvSpPr>
        <p:spPr>
          <a:xfrm>
            <a:off x="822960" y="3703320"/>
            <a:ext cx="20116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C28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2926080" y="3703320"/>
            <a:ext cx="27432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28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Caro e definitivo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5669280" y="3703320"/>
            <a:ext cx="27432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28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Gratuito - apaga e refaz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731520" y="4142232"/>
            <a:ext cx="7680960" cy="43891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2" name="Text 30"/>
          <p:cNvSpPr/>
          <p:nvPr/>
        </p:nvSpPr>
        <p:spPr>
          <a:xfrm>
            <a:off x="822960" y="4142232"/>
            <a:ext cx="20116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C28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Aprendizado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2926080" y="4142232"/>
            <a:ext cx="27432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28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Forçava disciplina e técnica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5669280" y="4142232"/>
            <a:ext cx="27432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28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Permite experimentação livre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C19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5029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5F0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Era do Smartphone</a:t>
            </a:r>
            <a:endParaRPr lang="en-US" sz="36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486400" y="365760"/>
            <a:ext cx="3200400" cy="4389120"/>
          </a:xfrm>
          <a:prstGeom prst="rect">
            <a:avLst/>
          </a:prstGeom>
          <a:effectLst>
            <a:outerShdw sx="100000" sy="100000" kx="0" ky="0" algn="bl" rotWithShape="0" blurRad="101600" dist="38100" dir="16200000">
              <a:srgbClr val="000000">
                <a:alpha val="20000"/>
              </a:srgbClr>
            </a:outerShdw>
          </a:effectLst>
        </p:spPr>
      </p:pic>
      <p:sp>
        <p:nvSpPr>
          <p:cNvPr id="4" name="Text 1"/>
          <p:cNvSpPr/>
          <p:nvPr/>
        </p:nvSpPr>
        <p:spPr>
          <a:xfrm>
            <a:off x="731520" y="1097280"/>
            <a:ext cx="438912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F5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2007 - iPhone lança a câmera no bolso de todos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F5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2010 - Instagram: a fotografia vira rede social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F5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2015+ - Câmeras de smartphone superam compactas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F5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Hoje - 1,4 trilhão de fotos por ano no mundo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500" b="1" dirty="0">
                <a:solidFill>
                  <a:srgbClr val="C8A9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Reflexão:</a:t>
            </a:r>
            <a:endParaRPr lang="en-US" sz="1400" dirty="0"/>
          </a:p>
          <a:p>
            <a:pPr indent="0" marL="0">
              <a:buNone/>
            </a:pPr>
            <a:r>
              <a:rPr lang="en-US" sz="1400" i="1" dirty="0">
                <a:solidFill>
                  <a:srgbClr val="D4B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Quando todo mundo é fotógrafo, o que diferencia uma boa foto de uma foto qualquer?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rgbClr val="F5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Resposta: técnica + intenção + significado.</a:t>
            </a:r>
            <a:endParaRPr lang="en-US" sz="1400" dirty="0"/>
          </a:p>
          <a:p>
            <a:pPr indent="0" marL="0">
              <a:buNone/>
            </a:pPr>
            <a:r>
              <a:rPr lang="en-US" sz="1300" dirty="0">
                <a:solidFill>
                  <a:srgbClr val="8C85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 exatamente isso que vamos aprender nesta UC.</a:t>
            </a:r>
            <a:endParaRPr lang="en-US" sz="14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5F0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680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2C282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Ética, Direitos e Imagem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731520" y="960120"/>
            <a:ext cx="1645920" cy="36576"/>
          </a:xfrm>
          <a:prstGeom prst="rect">
            <a:avLst/>
          </a:prstGeom>
          <a:solidFill>
            <a:srgbClr val="C8A96E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>
            <a:alphaModFix amt="85000"/>
          </a:blip>
          <a:srcRect l="0" r="0" t="0" b="0"/>
          <a:stretch/>
        </p:blipFill>
        <p:spPr>
          <a:xfrm>
            <a:off x="731520" y="1188720"/>
            <a:ext cx="7680960" cy="1371600"/>
          </a:xfrm>
          <a:prstGeom prst="rect">
            <a:avLst/>
          </a:prstGeom>
          <a:effectLst>
            <a:outerShdw sx="100000" sy="100000" kx="0" ky="0" algn="bl" rotWithShape="0" blurRad="101600" dist="38100" dir="16200000">
              <a:srgbClr val="000000">
                <a:alpha val="20000"/>
              </a:srgbClr>
            </a:outerShdw>
          </a:effectLst>
        </p:spPr>
      </p:pic>
      <p:sp>
        <p:nvSpPr>
          <p:cNvPr id="5" name="Shape 2"/>
          <p:cNvSpPr/>
          <p:nvPr/>
        </p:nvSpPr>
        <p:spPr>
          <a:xfrm>
            <a:off x="731520" y="2743200"/>
            <a:ext cx="2514600" cy="2011680"/>
          </a:xfrm>
          <a:prstGeom prst="rect">
            <a:avLst>
              <a:gd name="adj" fmla="val 5455"/>
            </a:avLst>
          </a:prstGeom>
          <a:solidFill>
            <a:srgbClr val="1C1917"/>
          </a:solidFill>
          <a:ln/>
          <a:effectLst>
            <a:outerShdw sx="100000" sy="100000" kx="0" ky="0" algn="bl" rotWithShape="0" blurRad="101600" dist="38100" dir="16200000">
              <a:srgbClr val="000000">
                <a:alpha val="20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914400" y="2834640"/>
            <a:ext cx="2148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8A96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Direito de Imagem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914400" y="3182112"/>
            <a:ext cx="914400" cy="27432"/>
          </a:xfrm>
          <a:prstGeom prst="rect">
            <a:avLst/>
          </a:prstGeom>
          <a:solidFill>
            <a:srgbClr val="C8A96E"/>
          </a:solidFill>
          <a:ln/>
        </p:spPr>
      </p:sp>
      <p:sp>
        <p:nvSpPr>
          <p:cNvPr id="8" name="Text 5"/>
          <p:cNvSpPr/>
          <p:nvPr/>
        </p:nvSpPr>
        <p:spPr>
          <a:xfrm>
            <a:off x="914400" y="3291840"/>
            <a:ext cx="214884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F5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 pessoa tem direito sobre o uso da própria imagem. Fotografar alguém sem autorização e publicar pode gerar processo. Em trabalhos profissionais: sempre usar modelo de autorização.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3474720" y="2743200"/>
            <a:ext cx="2514600" cy="2011680"/>
          </a:xfrm>
          <a:prstGeom prst="rect">
            <a:avLst>
              <a:gd name="adj" fmla="val 5455"/>
            </a:avLst>
          </a:prstGeom>
          <a:solidFill>
            <a:srgbClr val="1C1917"/>
          </a:solidFill>
          <a:ln/>
          <a:effectLst>
            <a:outerShdw sx="100000" sy="100000" kx="0" ky="0" algn="bl" rotWithShape="0" blurRad="101600" dist="38100" dir="16200000">
              <a:srgbClr val="000000">
                <a:alpha val="20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3657600" y="2834640"/>
            <a:ext cx="2148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8A96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Manipulação e Verdade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3657600" y="3182112"/>
            <a:ext cx="914400" cy="27432"/>
          </a:xfrm>
          <a:prstGeom prst="rect">
            <a:avLst/>
          </a:prstGeom>
          <a:solidFill>
            <a:srgbClr val="C8A96E"/>
          </a:solidFill>
          <a:ln/>
        </p:spPr>
      </p:sp>
      <p:sp>
        <p:nvSpPr>
          <p:cNvPr id="12" name="Text 9"/>
          <p:cNvSpPr/>
          <p:nvPr/>
        </p:nvSpPr>
        <p:spPr>
          <a:xfrm>
            <a:off x="3657600" y="3291840"/>
            <a:ext cx="214884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F5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Até onde a edição é aceitável? Fotojornalismo: tolerância zero. Publicidade: manipulação é a regra, mas com limites. Redes sociais: filtros e a distorção da realidade.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6217920" y="2743200"/>
            <a:ext cx="2514600" cy="2011680"/>
          </a:xfrm>
          <a:prstGeom prst="rect">
            <a:avLst>
              <a:gd name="adj" fmla="val 5455"/>
            </a:avLst>
          </a:prstGeom>
          <a:solidFill>
            <a:srgbClr val="1C1917"/>
          </a:solidFill>
          <a:ln/>
          <a:effectLst>
            <a:outerShdw sx="100000" sy="100000" kx="0" ky="0" algn="bl" rotWithShape="0" blurRad="101600" dist="38100" dir="16200000">
              <a:srgbClr val="000000">
                <a:alpha val="20000"/>
              </a:srgbClr>
            </a:outerShdw>
          </a:effectLst>
        </p:spPr>
      </p:sp>
      <p:sp>
        <p:nvSpPr>
          <p:cNvPr id="14" name="Text 11"/>
          <p:cNvSpPr/>
          <p:nvPr/>
        </p:nvSpPr>
        <p:spPr>
          <a:xfrm>
            <a:off x="6400800" y="2834640"/>
            <a:ext cx="2148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8A96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Direitos Autorais</a:t>
            </a:r>
            <a:endParaRPr lang="en-US" sz="1400" dirty="0"/>
          </a:p>
        </p:txBody>
      </p:sp>
      <p:sp>
        <p:nvSpPr>
          <p:cNvPr id="15" name="Shape 12"/>
          <p:cNvSpPr/>
          <p:nvPr/>
        </p:nvSpPr>
        <p:spPr>
          <a:xfrm>
            <a:off x="6400800" y="3182112"/>
            <a:ext cx="914400" cy="27432"/>
          </a:xfrm>
          <a:prstGeom prst="rect">
            <a:avLst/>
          </a:prstGeom>
          <a:solidFill>
            <a:srgbClr val="C8A96E"/>
          </a:solidFill>
          <a:ln/>
        </p:spPr>
      </p:sp>
      <p:sp>
        <p:nvSpPr>
          <p:cNvPr id="16" name="Text 13"/>
          <p:cNvSpPr/>
          <p:nvPr/>
        </p:nvSpPr>
        <p:spPr>
          <a:xfrm>
            <a:off x="6400800" y="3291840"/>
            <a:ext cx="214884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F5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Quem tira a foto é o autor. Usar foto alheia sem crédito é plágio. Creative Commons: licenças que permitem uso com condições. Sempre creditar a fonte.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C19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680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5F0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Toda Foto é um Signo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8A9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Ponte para a Semiótica (Aulas 03 e 04)</a:t>
            </a:r>
            <a:endParaRPr lang="en-US" sz="14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029200" y="914400"/>
            <a:ext cx="3657600" cy="2743200"/>
          </a:xfrm>
          <a:prstGeom prst="rect">
            <a:avLst/>
          </a:prstGeom>
          <a:effectLst>
            <a:outerShdw sx="100000" sy="100000" kx="0" ky="0" algn="bl" rotWithShape="0" blurRad="101600" dist="38100" dir="16200000">
              <a:srgbClr val="000000">
                <a:alpha val="20000"/>
              </a:srgbClr>
            </a:outerShdw>
          </a:effectLst>
        </p:spPr>
      </p:pic>
      <p:sp>
        <p:nvSpPr>
          <p:cNvPr id="5" name="Text 2"/>
          <p:cNvSpPr/>
          <p:nvPr/>
        </p:nvSpPr>
        <p:spPr>
          <a:xfrm>
            <a:off x="731520" y="1371600"/>
            <a:ext cx="402336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i="1" dirty="0">
                <a:solidFill>
                  <a:srgbClr val="D4B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Uma fotografia nunca é "só uma foto".</a:t>
            </a:r>
            <a:endParaRPr lang="en-US" sz="1500" dirty="0"/>
          </a:p>
          <a:p>
            <a:pPr indent="0" marL="0">
              <a:buNone/>
            </a:pP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F5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Ela representa algo (ícone)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F5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Ela indica algo (índice)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F5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Ela simboliza algo (símbolo)</a:t>
            </a:r>
            <a:endParaRPr lang="en-US" sz="1500" dirty="0"/>
          </a:p>
          <a:p>
            <a:pPr indent="0" marL="0">
              <a:buNone/>
            </a:pPr>
            <a:endParaRPr lang="en-US" sz="1500" dirty="0"/>
          </a:p>
          <a:p>
            <a:pPr indent="0" marL="0">
              <a:buNone/>
            </a:pPr>
            <a:r>
              <a:rPr lang="en-US" sz="1300" b="1" dirty="0">
                <a:solidFill>
                  <a:srgbClr val="C8A9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Exemplo: uma foto de uma bandeira vermelha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8C85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Ícone: parece uma bandeira (semelhança visual)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8C85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Índice: alguém a colocou ali (indica presença)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8C85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Símbolo: vermelho = perigo, paixão (convenção)</a:t>
            </a:r>
            <a:endParaRPr lang="en-US" sz="15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5F0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680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2C282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Atividade Prática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731520" y="1097280"/>
            <a:ext cx="7680960" cy="3566160"/>
          </a:xfrm>
          <a:prstGeom prst="rect">
            <a:avLst>
              <a:gd name="adj" fmla="val 3077"/>
            </a:avLst>
          </a:prstGeom>
          <a:solidFill>
            <a:srgbClr val="1C1917"/>
          </a:solidFill>
          <a:ln/>
          <a:effectLst>
            <a:outerShdw sx="100000" sy="100000" kx="0" ky="0" algn="bl" rotWithShape="0" blurRad="101600" dist="38100" dir="16200000">
              <a:srgbClr val="000000">
                <a:alpha val="20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914400" y="128016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C8A96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"Minha Primeira Foto Consciente"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097280" y="1828800"/>
            <a:ext cx="6949440" cy="2560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5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 o celular, cada aluno vai produzir 3 fotografias dentro da instituição:</a:t>
            </a:r>
            <a:endParaRPr lang="en-US" sz="1400" dirty="0"/>
          </a:p>
          <a:p>
            <a:pPr algn="ctr" indent="0" marL="0">
              <a:buNone/>
            </a:pP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F5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Uma foto que DOCUMENTE algo (registro fiel)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F5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Uma foto que COMUNIQUE uma ideia ou sentimento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F5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Uma foto que você considere ARTE (estética pessoal)</a:t>
            </a:r>
            <a:endParaRPr lang="en-US" sz="1400" dirty="0"/>
          </a:p>
          <a:p>
            <a:pPr algn="ctr" indent="0" marL="0">
              <a:buNone/>
            </a:pPr>
            <a:endParaRPr lang="en-US" sz="14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8C85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Tempo: 20 minutos para fotografar, 10 minutos para selecionar</a:t>
            </a:r>
            <a:endParaRPr lang="en-US" sz="14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8C85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Depois: cada aluno mostra suas 3 fotos e explica brevemente a intenção</a:t>
            </a:r>
            <a:endParaRPr lang="en-US" sz="14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1C19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>
            <a:alphaModFix amt="50000"/>
          </a:blip>
          <a:srcRect l="0" r="0" t="0" b="0"/>
          <a:stretch/>
        </p:blipFill>
        <p:spPr>
          <a:xfrm>
            <a:off x="0" y="0"/>
            <a:ext cx="9144000" cy="5148072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8072"/>
          </a:xfrm>
          <a:prstGeom prst="rect">
            <a:avLst/>
          </a:prstGeom>
          <a:solidFill>
            <a:srgbClr val="1C1917"/>
          </a:solidFill>
          <a:ln/>
        </p:spPr>
      </p:sp>
      <p:sp>
        <p:nvSpPr>
          <p:cNvPr id="4" name="Text 1"/>
          <p:cNvSpPr/>
          <p:nvPr/>
        </p:nvSpPr>
        <p:spPr>
          <a:xfrm>
            <a:off x="731520" y="1371600"/>
            <a:ext cx="7680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C8A9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Próxima Aula</a:t>
            </a:r>
            <a:endParaRPr lang="en-US" sz="1800" dirty="0"/>
          </a:p>
        </p:txBody>
      </p:sp>
      <p:sp>
        <p:nvSpPr>
          <p:cNvPr id="5" name="Text 2"/>
          <p:cNvSpPr/>
          <p:nvPr/>
        </p:nvSpPr>
        <p:spPr>
          <a:xfrm>
            <a:off x="731520" y="1920240"/>
            <a:ext cx="7680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5F0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Formação da Imagem Digital</a:t>
            </a:r>
            <a:endParaRPr lang="en-US" sz="3800" dirty="0"/>
          </a:p>
        </p:txBody>
      </p:sp>
      <p:sp>
        <p:nvSpPr>
          <p:cNvPr id="6" name="Text 3"/>
          <p:cNvSpPr/>
          <p:nvPr/>
        </p:nvSpPr>
        <p:spPr>
          <a:xfrm>
            <a:off x="731520" y="2926080"/>
            <a:ext cx="7680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600" dirty="0">
                <a:solidFill>
                  <a:srgbClr val="8C85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Resolução, sensores, formatos de arquivo</a:t>
            </a:r>
            <a:endParaRPr lang="en-US" sz="1600" dirty="0"/>
          </a:p>
          <a:p>
            <a:pPr algn="ctr" indent="0" marL="0">
              <a:lnSpc>
                <a:spcPct val="140000"/>
              </a:lnSpc>
              <a:buNone/>
            </a:pPr>
            <a:r>
              <a:rPr lang="en-US" sz="1600" dirty="0">
                <a:solidFill>
                  <a:srgbClr val="8C85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 a organização do seu workspace digital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3657600" y="3840480"/>
            <a:ext cx="1828800" cy="36576"/>
          </a:xfrm>
          <a:prstGeom prst="rect">
            <a:avLst/>
          </a:prstGeom>
          <a:solidFill>
            <a:srgbClr val="C8A96E"/>
          </a:solidFill>
          <a:ln/>
        </p:spPr>
      </p:sp>
      <p:sp>
        <p:nvSpPr>
          <p:cNvPr id="8" name="Text 5"/>
          <p:cNvSpPr/>
          <p:nvPr/>
        </p:nvSpPr>
        <p:spPr>
          <a:xfrm>
            <a:off x="731520" y="4114800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8C85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Até sexta!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Aula 01 - A Imagem Através do Tempo</dc:title>
  <dc:subject>PptxGenJS Presentation</dc:subject>
  <dc:creator>SENAI</dc:creator>
  <cp:lastModifiedBy>SENAI</cp:lastModifiedBy>
  <cp:revision>1</cp:revision>
  <dcterms:created xsi:type="dcterms:W3CDTF">2026-04-13T01:26:20Z</dcterms:created>
  <dcterms:modified xsi:type="dcterms:W3CDTF">2026-04-13T01:26:20Z</dcterms:modified>
</cp:coreProperties>
</file>